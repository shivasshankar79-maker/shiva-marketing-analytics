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B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85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Homepage</c:v>
                  </c:pt>
                  <c:pt idx="1">
                    <c:v>Product Page</c:v>
                  </c:pt>
                  <c:pt idx="2">
                    <c:v>Checkout</c:v>
                  </c:pt>
                  <c:pt idx="3">
                    <c:v>Purchase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1777</c:v>
                </c:pt>
                <c:pt idx="1">
                  <c:v>1444</c:v>
                </c:pt>
                <c:pt idx="2">
                  <c:v>790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 (÷1000)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Blog</c:v>
                  </c:pt>
                  <c:pt idx="1">
                    <c:v>Social Media</c:v>
                  </c:pt>
                  <c:pt idx="2">
                    <c:v>Video</c:v>
                  </c:pt>
                  <c:pt idx="3">
                    <c:v>Newsletter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3144</c:v>
                </c:pt>
                <c:pt idx="1">
                  <c:v>3095</c:v>
                </c:pt>
                <c:pt idx="2">
                  <c:v>2840</c:v>
                </c:pt>
                <c:pt idx="3">
                  <c:v>2685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 (÷1000)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Blog</c:v>
                  </c:pt>
                  <c:pt idx="1">
                    <c:v>Social Media</c:v>
                  </c:pt>
                  <c:pt idx="2">
                    <c:v>Video</c:v>
                  </c:pt>
                  <c:pt idx="3">
                    <c:v>Newsletter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611</c:v>
                </c:pt>
                <c:pt idx="1">
                  <c:v>611</c:v>
                </c:pt>
                <c:pt idx="2">
                  <c:v>564</c:v>
                </c:pt>
                <c:pt idx="3">
                  <c:v>517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Likes (÷1000)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Blog</c:v>
                  </c:pt>
                  <c:pt idx="1">
                    <c:v>Social Media</c:v>
                  </c:pt>
                  <c:pt idx="2">
                    <c:v>Video</c:v>
                  </c:pt>
                  <c:pt idx="3">
                    <c:v>Newsletter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142</c:v>
                </c:pt>
                <c:pt idx="1">
                  <c:v>139</c:v>
                </c:pt>
                <c:pt idx="2">
                  <c:v>134</c:v>
                </c:pt>
                <c:pt idx="3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5E7A8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B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8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 Stars</c:v>
                  </c:pt>
                  <c:pt idx="1">
                    <c:v>4 Stars</c:v>
                  </c:pt>
                  <c:pt idx="2">
                    <c:v>3 Stars</c:v>
                  </c:pt>
                  <c:pt idx="3">
                    <c:v>2 Stars</c:v>
                  </c:pt>
                  <c:pt idx="4">
                    <c:v>1 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409</c:v>
                </c:pt>
                <c:pt idx="1">
                  <c:v>431</c:v>
                </c:pt>
                <c:pt idx="2">
                  <c:v>290</c:v>
                </c:pt>
                <c:pt idx="3">
                  <c:v>153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4C8D4"/>
                </a:solidFill>
              </a:rPr>
              <a:t>MARKETING &amp; CUSTOMER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&amp;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F0F5"/>
                </a:solidFill>
              </a:rPr>
              <a:t>Diagnosing conversion gaps, engagement performance,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E8F0F5"/>
                </a:solidFill>
              </a:rPr>
              <a:t>and customer feedback to unlock growth opportunities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Conversion 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9319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Engagement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931920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E8485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931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Feedback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Addressed to: Marketing Manager &amp; Customer Experience Manager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6400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55"/>
                </a:solidFill>
              </a:rPr>
              <a:t>⚠  Conversion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Overall Conversion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2377440" cy="0"/>
          </a:xfrm>
          <a:prstGeom prst="line">
            <a:avLst/>
          </a:prstGeom>
          <a:noFill/>
          <a:ln w="12700">
            <a:solidFill>
              <a:srgbClr val="E8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9067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8A"/>
                </a:solidFill>
              </a:rPr>
              <a:t>77.6% of visitors drop off at checkout — the single biggest revenue leak in the funnel.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📊  Engagement Plateau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933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Avg Click-Through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999232"/>
            <a:ext cx="2377440" cy="0"/>
          </a:xfrm>
          <a:prstGeom prst="line">
            <a:avLst/>
          </a:prstGeom>
          <a:noFill/>
          <a:ln w="12700">
            <a:solidFill>
              <a:srgbClr val="E8F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09067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8A"/>
                </a:solidFill>
              </a:rPr>
              <a:t>Social Media &amp; Video lead CTR, but Video drives the highest likes-per-view ratio (4.70%).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⭐  Mixed Feedback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99339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6364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Average Rating (out of 5)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999232"/>
            <a:ext cx="2377440" cy="0"/>
          </a:xfrm>
          <a:prstGeom prst="line">
            <a:avLst/>
          </a:prstGeom>
          <a:noFill/>
          <a:ln w="12700">
            <a:solidFill>
              <a:srgbClr val="E8F0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09067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8A"/>
                </a:solidFill>
              </a:rPr>
              <a:t>61.6% positive reviews but 17.1% are negative — pricing &amp; value perception are recurring pain points.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AADDE1"/>
                </a:solidFill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Conversion Rates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DDE1"/>
                </a:solidFill>
              </a:rPr>
              <a:t>Identify where visitors drop off and why — then fix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14C8D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0D1B2A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CONVERSION FUNNEL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Where Are We Losing Visitors?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Homepage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417320"/>
            <a:ext cx="502920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417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1,777 visits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100%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Product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2258568"/>
            <a:ext cx="4088740" cy="411480"/>
          </a:xfrm>
          <a:prstGeom prst="rect">
            <a:avLst/>
          </a:prstGeom>
          <a:solidFill>
            <a:srgbClr val="0A9BA6"/>
          </a:solidFill>
          <a:ln/>
        </p:spPr>
      </p:sp>
      <p:sp>
        <p:nvSpPr>
          <p:cNvPr id="11" name="Text 9"/>
          <p:cNvSpPr/>
          <p:nvPr/>
        </p:nvSpPr>
        <p:spPr>
          <a:xfrm>
            <a:off x="6100420" y="22585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1,444 visits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2128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9BA6"/>
                </a:solidFill>
              </a:rPr>
              <a:t>81.3%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05409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Checkout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20240" y="3099816"/>
            <a:ext cx="2237994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249674" y="3099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790 visits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30540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44.5%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8953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Purchase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3941064"/>
            <a:ext cx="568300" cy="4114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9" name="Text 17"/>
          <p:cNvSpPr/>
          <p:nvPr/>
        </p:nvSpPr>
        <p:spPr>
          <a:xfrm>
            <a:off x="2579980" y="39410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200 visits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38953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11.3%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FF3F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617720"/>
            <a:ext cx="64008" cy="4114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855"/>
                </a:solidFill>
              </a:rPr>
              <a:t>🚨  Critical: 613 visitors dropped off at checkout (77.6% drop-off rate) — the funnel's biggest leak.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PROBLEM DIAGNOSIS — CHECKOUT DROP-OFF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77.6% of Visitors Abandon at Checkout — Why?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920240" cy="5486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4855"/>
                </a:solidFill>
              </a:rPr>
              <a:t>613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Drop-offs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at Checkout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3716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371600"/>
            <a:ext cx="1920240" cy="5486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4855"/>
                </a:solidFill>
              </a:rPr>
              <a:t>77.6%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Checkout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Abandonment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71600"/>
            <a:ext cx="192024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C86"/>
                </a:solidFill>
              </a:rPr>
              <a:t>200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Successful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Purchases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371600"/>
            <a:ext cx="19202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463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5.0%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Overall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Conversion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Root Cause Hypotheses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46120"/>
            <a:ext cx="64008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Pricing Friction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557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Unexpected costs or high price at checkout deter completion.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246120"/>
            <a:ext cx="64008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8" name="Text 26"/>
          <p:cNvSpPr/>
          <p:nvPr/>
        </p:nvSpPr>
        <p:spPr>
          <a:xfrm>
            <a:off x="4873752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Long / Complex Process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557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Too many steps before purchase confirmation.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0233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23360"/>
            <a:ext cx="64008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Lack of Trust Signals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" y="4334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Missing reviews or security indicators at checkout page.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40233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4023360"/>
            <a:ext cx="64008" cy="65836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Guest Checkout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73752" y="43342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Forced account creation creates abandonment.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STAGE-BY-STAGE DROP-OFF RATES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Visitor Drop-off Between Each Funnel Stage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Stage-to-Stage Loss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17373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737360"/>
            <a:ext cx="64008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Homepage → Product Page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93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Lost: 333 (18.7%)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27432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2743200"/>
            <a:ext cx="64008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Product Page → Checkout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</a:rPr>
              <a:t>Lost: 654 (45.3%)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374904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3749040"/>
            <a:ext cx="64008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Checkout → Purchase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</a:rPr>
              <a:t>Lost: 590 (74.7%)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RECOMMENDATIONS — CONVERSION 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How to Fix the Checkout Funnel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Simplify Checkout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173736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73736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Reduce checkout to 2-3 steps. Offer guest checkout to remove sign-up friction.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71600"/>
            <a:ext cx="64008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73752" y="16002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7528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Add Trust Signals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67528" y="173736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367528" y="173736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73752" y="2011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Display security badges, money-back guarantees, and top reviews at checkout.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60320"/>
            <a:ext cx="64008" cy="1051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7889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Show Transparent Pricing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" y="292608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292608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8912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Show all costs (shipping, taxes) early on the product page, before checkout.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5603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560320"/>
            <a:ext cx="64008" cy="1051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Shape 29"/>
          <p:cNvSpPr/>
          <p:nvPr/>
        </p:nvSpPr>
        <p:spPr>
          <a:xfrm>
            <a:off x="4873752" y="27889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7528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Retarget Drop-off Visitors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67528" y="292608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5367528" y="292608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73752" y="3200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Use email/ad retargeting for the 613 who reached checkout but didn't purchase.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749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49040"/>
            <a:ext cx="64008" cy="1051560"/>
          </a:xfrm>
          <a:prstGeom prst="rect">
            <a:avLst/>
          </a:prstGeom>
          <a:solidFill>
            <a:srgbClr val="5E7A8A"/>
          </a:solidFill>
          <a:ln/>
        </p:spPr>
      </p:sp>
      <p:sp>
        <p:nvSpPr>
          <p:cNvPr id="39" name="Shape 37"/>
          <p:cNvSpPr/>
          <p:nvPr/>
        </p:nvSpPr>
        <p:spPr>
          <a:xfrm>
            <a:off x="438912" y="3977640"/>
            <a:ext cx="384048" cy="384048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2688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A/B Test CTAs on Product Pages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2688" y="411480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5E7A8A"/>
          </a:solidFill>
          <a:ln/>
        </p:spPr>
      </p:sp>
      <p:sp>
        <p:nvSpPr>
          <p:cNvPr id="43" name="Text 41"/>
          <p:cNvSpPr/>
          <p:nvPr/>
        </p:nvSpPr>
        <p:spPr>
          <a:xfrm>
            <a:off x="932688" y="41148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38912" y="4389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Test button copy, color, and placement on product pages to improve click-through.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74904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749040"/>
            <a:ext cx="64008" cy="1051560"/>
          </a:xfrm>
          <a:prstGeom prst="rect">
            <a:avLst/>
          </a:prstGeom>
          <a:solidFill>
            <a:srgbClr val="5E7A8A"/>
          </a:solidFill>
          <a:ln/>
        </p:spPr>
      </p:sp>
      <p:sp>
        <p:nvSpPr>
          <p:cNvPr id="47" name="Shape 45"/>
          <p:cNvSpPr/>
          <p:nvPr/>
        </p:nvSpPr>
        <p:spPr>
          <a:xfrm>
            <a:off x="4873752" y="3977640"/>
            <a:ext cx="384048" cy="384048"/>
          </a:xfrm>
          <a:prstGeom prst="ellipse">
            <a:avLst/>
          </a:prstGeom>
          <a:solidFill>
            <a:srgbClr val="5E7A8A"/>
          </a:solidFill>
          <a:ln/>
        </p:spPr>
      </p:sp>
      <p:sp>
        <p:nvSpPr>
          <p:cNvPr id="48" name="Text 46"/>
          <p:cNvSpPr/>
          <p:nvPr/>
        </p:nvSpPr>
        <p:spPr>
          <a:xfrm>
            <a:off x="4873752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67528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Exit-Intent Popups at Checkout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67528" y="4114800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5E7A8A"/>
          </a:solidFill>
          <a:ln/>
        </p:spPr>
      </p:sp>
      <p:sp>
        <p:nvSpPr>
          <p:cNvPr id="51" name="Text 49"/>
          <p:cNvSpPr/>
          <p:nvPr/>
        </p:nvSpPr>
        <p:spPr>
          <a:xfrm>
            <a:off x="5367528" y="41148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73752" y="4389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Capture abandoning visitors with a last-minute discount or free-shipping offer.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5A623"/>
                </a:solidFill>
              </a:rPr>
              <a:t>PART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Customer Engagement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0"/>
                </a:solidFill>
              </a:rPr>
              <a:t>Which content drives results — and what should we do more of?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CONTENT ENGAGEMENT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All Content Types Perform Similarly — But Nuances Matter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20116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435608"/>
            <a:ext cx="201168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Views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6771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3.14M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587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Clicks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7980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610K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Likes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3284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142K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CTR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85876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19.4%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Likes/View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38912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4.52%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04872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04872" y="1371600"/>
            <a:ext cx="2011680" cy="6400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1" name="Shape 19"/>
          <p:cNvSpPr/>
          <p:nvPr/>
        </p:nvSpPr>
        <p:spPr>
          <a:xfrm>
            <a:off x="2404872" y="1435608"/>
            <a:ext cx="2011680" cy="4572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2" name="Text 20"/>
          <p:cNvSpPr/>
          <p:nvPr/>
        </p:nvSpPr>
        <p:spPr>
          <a:xfrm>
            <a:off x="2404872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SOCIAL MEDIA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96312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Views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96312" y="226771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3.09M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96312" y="2587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Clicks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96312" y="27980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611K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96312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Likes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96312" y="33284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139K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96312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CTR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96312" y="385876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19.7%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496312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Likes/View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96312" y="438912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4.48%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81144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81144" y="1371600"/>
            <a:ext cx="201168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Shape 33"/>
          <p:cNvSpPr/>
          <p:nvPr/>
        </p:nvSpPr>
        <p:spPr>
          <a:xfrm>
            <a:off x="4581144" y="1435608"/>
            <a:ext cx="201168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6" name="Text 34"/>
          <p:cNvSpPr/>
          <p:nvPr/>
        </p:nvSpPr>
        <p:spPr>
          <a:xfrm>
            <a:off x="4581144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72584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Views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72584" y="226771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2.84M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72584" y="2587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Clicks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72584" y="27980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564K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72584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Likes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72584" y="33284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134K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72584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CTR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72584" y="385876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19.8%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672584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Likes/View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72584" y="438912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4.70%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757416" y="13716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57416" y="1371600"/>
            <a:ext cx="2011680" cy="6400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49" name="Shape 47"/>
          <p:cNvSpPr/>
          <p:nvPr/>
        </p:nvSpPr>
        <p:spPr>
          <a:xfrm>
            <a:off x="6757416" y="1435608"/>
            <a:ext cx="2011680" cy="457200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50" name="Text 48"/>
          <p:cNvSpPr/>
          <p:nvPr/>
        </p:nvSpPr>
        <p:spPr>
          <a:xfrm>
            <a:off x="6757416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NEWSLETTER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48856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Views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48856" y="226771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2.69M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48856" y="2587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Clicks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48856" y="279806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517K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48856" y="31181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Total Likes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48856" y="33284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115K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48856" y="36484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CTR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48856" y="3858768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19.3%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848856" y="4178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Likes/View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848856" y="438912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4.27%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</a:rPr>
              <a:t>★  Video leads in Likes/View ratio (4.70%) — indicating the deepest emotional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CONTENT PERFORMANCE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Views, Clicks &amp; Likes by Content Type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25880"/>
          <a:ext cx="8595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RECOMMENDATIONS — CONTENT ENGAGEMENT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Double Down on What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0789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35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Scale Video Content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46304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463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Priority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176479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Video achieves the highest Likes/View ratio (4.70%), signalling the strongest emotional connection. Invest in product demos, tutorials, and athlete stories.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60320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Boost Social Media Posting Frequency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65176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6517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Priority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912" y="295351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Social Media drives the highest CTR (19.7%) and massive reach (3.09M views). Increase posting cadence and test short-form video reels.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49040"/>
            <a:ext cx="64008" cy="1078992"/>
          </a:xfrm>
          <a:prstGeom prst="rect">
            <a:avLst/>
          </a:prstGeom>
          <a:solidFill>
            <a:srgbClr val="5E7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813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Refine Newsletter Strategy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384048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5E7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Optimize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8912" y="414223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Newsletter has the lowest CTR (19.3%) and likes/view. A/B test subject lines, personalize content by segment, and optimize send times.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371600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35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Create Content-to-Conversion Pathways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146304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14630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Priority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10912" y="176479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Link high-performing Blog and Social posts directly to product pages with clear CTAs. Track which content type drives the most downstream purchases.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560320"/>
            <a:ext cx="64008" cy="10789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Segment Campaigns by Product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21040" y="265176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26517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Optimize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10912" y="295351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Match content type to product — e.g., high-price items (Yoga Mat, Cycling Helmet) deserve in-depth Blog + Video treatment.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74904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749040"/>
            <a:ext cx="64008" cy="1078992"/>
          </a:xfrm>
          <a:prstGeom prst="rect">
            <a:avLst/>
          </a:prstGeom>
          <a:solidFill>
            <a:srgbClr val="5E7A8A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3813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Measure Engagement Quality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3840480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5E7A8A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0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Track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10912" y="414223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Move beyond CTR. Track scroll depth, save rate, and conversion from engagement to understand true content ROI.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8485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14C8D4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84855"/>
                </a:solidFill>
              </a:rPr>
              <a:t>PART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Scores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0"/>
                </a:solidFill>
              </a:rPr>
              <a:t>What customers are saying — and what to do about it.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CUSTOMER REVIEW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Overall Rating: 3.69 / 5 — Room to Improve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3258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1325880"/>
            <a:ext cx="34747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94960" y="1325880"/>
            <a:ext cx="64008" cy="7680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3533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1,363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577840" y="17556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Total Reviews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212848"/>
            <a:ext cx="34747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2212848"/>
            <a:ext cx="64008" cy="7680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3.69★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577840" y="26426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Average Rating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3099816"/>
            <a:ext cx="34747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3099816"/>
            <a:ext cx="64008" cy="7680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31272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</a:rPr>
              <a:t>61.6%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577840" y="35295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Positive (4-5★)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94960" y="3986784"/>
            <a:ext cx="34747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3986784"/>
            <a:ext cx="64008" cy="768096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40142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4855"/>
                </a:solidFill>
              </a:rPr>
              <a:t>17.1%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577840" y="4416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Negative (1-2★)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RECURRING FEEDBACK THEMES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What Customers Are Saying — Positive &amp; Negative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64008" cy="32918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✅  POSITIVE THEMES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840480" cy="502920"/>
          </a:xfrm>
          <a:prstGeom prst="rect">
            <a:avLst/>
          </a:prstGeom>
          <a:solidFill>
            <a:srgbClr val="F0FB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56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Product Quality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299 mentions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856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"The quality is top-notch."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3840480" cy="502920"/>
          </a:xfrm>
          <a:prstGeom prst="rect">
            <a:avLst/>
          </a:prstGeom>
          <a:solidFill>
            <a:srgbClr val="F0FB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231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Would Recommend / Satisfied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609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267 mentions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"Great purchase, very satisfied."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3840480" cy="502920"/>
          </a:xfrm>
          <a:prstGeom prst="rect">
            <a:avLst/>
          </a:prstGeom>
          <a:solidFill>
            <a:srgbClr val="F0FB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9900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Fast Delivery &amp; Packaging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27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192 mentions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9900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"Five stars for the quick delivery."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3840480" cy="502920"/>
          </a:xfrm>
          <a:prstGeom prst="rect">
            <a:avLst/>
          </a:prstGeom>
          <a:solidFill>
            <a:srgbClr val="F0FB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570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Value for Money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794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149 mentions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557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"Amazing value for the price."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96512"/>
            <a:ext cx="3840480" cy="502920"/>
          </a:xfrm>
          <a:prstGeom prst="rect">
            <a:avLst/>
          </a:prstGeom>
          <a:solidFill>
            <a:srgbClr val="F0FB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239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Customer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61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114 mentions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41239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"Customer support was very helpful."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64008" cy="32918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55"/>
                </a:solidFill>
              </a:rPr>
              <a:t>❌  NEGATIVE THEMES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3931920" cy="6858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Product Didn't Meet Expectations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1214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</a:rPr>
              <a:t>147 mentions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2331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"Product did not meet my expectations."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633472"/>
            <a:ext cx="3931920" cy="6858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8348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Pricing Too High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926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</a:rPr>
              <a:t>122 mentions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3136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"Good quality, but could be cheaper."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438144"/>
            <a:ext cx="3931920" cy="6858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8348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Average / Nothing Special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7307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</a:rPr>
              <a:t>91 mentions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83480" y="39410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A8A"/>
                </a:solidFill>
              </a:rPr>
              <a:t>"Average experience, nothing special."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PRODUCT-LEVEL FEEDBACK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Best &amp; Worst Rated Products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🏆  Top Performers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37360"/>
            <a:ext cx="6400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1. Climbing Rope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69 reviews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7647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3.91★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2368296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68296"/>
            <a:ext cx="6400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2. Swim Goggles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6609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73 reviews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3957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3.84★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6400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026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3. Cycling Helmet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291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56 reviews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0266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3.80★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30168"/>
            <a:ext cx="6400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 Kayak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227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75 reviews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3.79★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4320" y="426110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61104"/>
            <a:ext cx="64008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4288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5. Basketball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" y="4553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64 reviews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42885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C86"/>
                </a:solidFill>
              </a:rPr>
              <a:t>3.78★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55"/>
                </a:solidFill>
              </a:rPr>
              <a:t>⚠  Need Attention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73736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737360"/>
            <a:ext cx="64008" cy="56692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1764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1. Golf Clubs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20299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64 reviews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80960" y="17647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4855"/>
                </a:solidFill>
              </a:rPr>
              <a:t>3.48★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54880" y="2368296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368296"/>
            <a:ext cx="64008" cy="56692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2. Yoga Mat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26609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65 reviews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23957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4855"/>
                </a:solidFill>
              </a:rPr>
              <a:t>3.52★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754880" y="2999232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999232"/>
            <a:ext cx="64008" cy="56692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4" name="Text 42"/>
          <p:cNvSpPr/>
          <p:nvPr/>
        </p:nvSpPr>
        <p:spPr>
          <a:xfrm>
            <a:off x="4919472" y="3026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3. Tennis Racket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3291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72 reviews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80960" y="30266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4855"/>
                </a:solidFill>
              </a:rPr>
              <a:t>3.56★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754880" y="3630168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630168"/>
            <a:ext cx="64008" cy="56692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9" name="Text 47"/>
          <p:cNvSpPr/>
          <p:nvPr/>
        </p:nvSpPr>
        <p:spPr>
          <a:xfrm>
            <a:off x="4919472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 Running Shoes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19472" y="39227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63 reviews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8096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4855"/>
                </a:solidFill>
              </a:rPr>
              <a:t>3.57★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754880" y="426110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261104"/>
            <a:ext cx="64008" cy="56692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54" name="Text 52"/>
          <p:cNvSpPr/>
          <p:nvPr/>
        </p:nvSpPr>
        <p:spPr>
          <a:xfrm>
            <a:off x="4919472" y="4288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5. Volleyball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19472" y="4553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A8A"/>
                </a:solidFill>
              </a:rPr>
              <a:t>59 reviews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80960" y="42885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4855"/>
                </a:solidFill>
              </a:rPr>
              <a:t>3.58★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C8D4"/>
                </a:solidFill>
              </a:rPr>
              <a:t>RECOMMENDATIONS — CUSTOMER FEEDBACK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Turning Feedback Into 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07899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435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4855"/>
                </a:solidFill>
              </a:rPr>
              <a:t>📌 147 'not worth it' mentions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938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Review pricing strategy for Golf Clubs, Yoga Mat &amp; Tennis Racket. Consider bundling or value-add offers to justify premium pricing.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" cy="107899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435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Product Expectations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7190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4855"/>
                </a:solidFill>
              </a:rPr>
              <a:t>📌 122 'cheaper' mentions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73752" y="1938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Improve product descriptions, photos, and sizing guides to align customer expectations before purchase.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64008" cy="10789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624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Amplify Positives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</a:rPr>
              <a:t>📌 299 quality + 192 delivery mentions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Showcase quality and delivery reviews prominently on product pages. Use social proof to convert hesitant buyers.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64008" cy="10789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624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Customer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9077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</a:rPr>
              <a:t>📌 114 support mentions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3752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Expand support visibility — proactively offer help during checkout to reduce abandonment and build loyalty.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4904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49040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Feedback 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096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📌 Drive more quality reviews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315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Post-purchase, trigger a structured review request at day 7. Incentivize detailed feedback with loyalty points.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49040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Product Improvement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4096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📌 Ratings below 3.6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3752" y="4315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Create a dedicated improvement roadmap for the 5 lowest-rated products based on recurring review keywords.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C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C8D4"/>
                </a:solidFill>
              </a:rPr>
              <a:t>SUMMARY &amp; ACTION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Priorities to Drive Growth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321040" cy="98755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810512"/>
            <a:ext cx="475488" cy="475488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10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6184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Fix the Checkout Funnel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DDE1"/>
                </a:solidFill>
              </a:rPr>
              <a:t>Simplify checkout → Add trust signals → Show transparent pricing → Launch retargeting campaigns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70432" y="22219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Target: Conversion rate from 5% → 8%+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901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BFCB"/>
                </a:solidFill>
              </a:rPr>
              <a:t>Owner: Marketing Manager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321040" cy="98755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889504"/>
            <a:ext cx="475488" cy="47548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895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2697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Invest in Video &amp; Social Content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999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DDE1"/>
                </a:solidFill>
              </a:rPr>
              <a:t>Scale video production → Increase social cadence → Link content directly to product pages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70432" y="33009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Target: Engagement-to-conversion uplift 15%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9809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BFCB"/>
                </a:solidFill>
              </a:rPr>
              <a:t>Owner: Marketing Manager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8321040" cy="98755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968496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776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Close the Feedback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078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DDE1"/>
                </a:solidFill>
              </a:rPr>
              <a:t>Review pricing for low-rated products → Improve listings → Trigger post-purchase reviews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70432" y="43799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</a:rPr>
              <a:t>Target: Average rating from 3.69 → 4.0+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4059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BFCB"/>
                </a:solidFill>
              </a:rPr>
              <a:t>Owner: Customer Experience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8A"/>
                </a:solidFill>
              </a:rPr>
              <a:t>Thank you —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Experience &amp; Marketing Analysis</dc:title>
  <dc:subject>PptxGenJS Presentation</dc:subject>
  <dc:creator>PptxGenJS</dc:creator>
  <cp:lastModifiedBy>PptxGenJS</cp:lastModifiedBy>
  <cp:revision>1</cp:revision>
  <dcterms:created xsi:type="dcterms:W3CDTF">2026-04-08T19:26:29Z</dcterms:created>
  <dcterms:modified xsi:type="dcterms:W3CDTF">2026-04-08T19:26:29Z</dcterms:modified>
</cp:coreProperties>
</file>